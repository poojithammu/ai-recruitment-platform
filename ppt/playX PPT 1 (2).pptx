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67" r:id="rId2"/>
    <p:sldId id="257" r:id="rId3"/>
    <p:sldId id="258" r:id="rId4"/>
    <p:sldId id="260" r:id="rId5"/>
    <p:sldId id="261" r:id="rId6"/>
    <p:sldId id="269" r:id="rId7"/>
    <p:sldId id="262" r:id="rId8"/>
    <p:sldId id="263" r:id="rId9"/>
    <p:sldId id="266"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10E1EC-DC16-4121-9D36-795CDD5A8F84}" v="113" dt="2026-05-13T09:19:44.083"/>
    <p1510:client id="{86F26812-1A8E-4647-BD68-DA43285128AF}" v="334" dt="2026-05-13T09:07:08.6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53227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3801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477598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5/13/2026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55575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5/13/2026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44678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779267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465992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11844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36702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11029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4977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27121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5143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3781222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56690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912225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5/13/2026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2063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5/13/2026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3160958991"/>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ai.google.dev/" TargetMode="External"/><Relationship Id="rId3" Type="http://schemas.openxmlformats.org/officeDocument/2006/relationships/hyperlink" Target="https://nodejs.org/" TargetMode="External"/><Relationship Id="rId7" Type="http://schemas.openxmlformats.org/officeDocument/2006/relationships/hyperlink" Target="https://tailwindcss.com/" TargetMode="External"/><Relationship Id="rId2" Type="http://schemas.openxmlformats.org/officeDocument/2006/relationships/hyperlink" Target="https://react.dev/" TargetMode="External"/><Relationship Id="rId1" Type="http://schemas.openxmlformats.org/officeDocument/2006/relationships/slideLayout" Target="../slideLayouts/slideLayout7.xml"/><Relationship Id="rId6" Type="http://schemas.openxmlformats.org/officeDocument/2006/relationships/hyperlink" Target="https://playwright.dev/" TargetMode="External"/><Relationship Id="rId5" Type="http://schemas.openxmlformats.org/officeDocument/2006/relationships/hyperlink" Target="https://expressjs.com/" TargetMode="External"/><Relationship Id="rId10" Type="http://schemas.openxmlformats.org/officeDocument/2006/relationships/hyperlink" Target="https://docs.bullmq.io/" TargetMode="External"/><Relationship Id="rId4" Type="http://schemas.openxmlformats.org/officeDocument/2006/relationships/hyperlink" Target="https://www.mongodb.com/docs" TargetMode="External"/><Relationship Id="rId9" Type="http://schemas.openxmlformats.org/officeDocument/2006/relationships/hyperlink" Target="https://redis.io/docs"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28F1E-D65D-D6C3-4130-86941CA419D6}"/>
              </a:ext>
            </a:extLst>
          </p:cNvPr>
          <p:cNvSpPr>
            <a:spLocks noGrp="1"/>
          </p:cNvSpPr>
          <p:nvPr>
            <p:ph type="title"/>
          </p:nvPr>
        </p:nvSpPr>
        <p:spPr/>
        <p:txBody>
          <a:bodyPr/>
          <a:lstStyle/>
          <a:p>
            <a:r>
              <a:rPr lang="en-US">
                <a:ea typeface="Calibri Light"/>
                <a:cs typeface="Calibri Light"/>
              </a:rPr>
              <a:t>Ai- agentic hiring intelligence</a:t>
            </a:r>
            <a:endParaRPr lang="en-US" dirty="0">
              <a:ea typeface="Calibri Light"/>
              <a:cs typeface="Calibri Light"/>
            </a:endParaRPr>
          </a:p>
        </p:txBody>
      </p:sp>
      <p:sp>
        <p:nvSpPr>
          <p:cNvPr id="3" name="Content Placeholder 2">
            <a:extLst>
              <a:ext uri="{FF2B5EF4-FFF2-40B4-BE49-F238E27FC236}">
                <a16:creationId xmlns:a16="http://schemas.microsoft.com/office/drawing/2014/main" id="{5B5B5B67-82BD-5C70-E913-FCE029CA471D}"/>
              </a:ext>
            </a:extLst>
          </p:cNvPr>
          <p:cNvSpPr>
            <a:spLocks noGrp="1"/>
          </p:cNvSpPr>
          <p:nvPr>
            <p:ph idx="1"/>
          </p:nvPr>
        </p:nvSpPr>
        <p:spPr/>
        <p:txBody>
          <a:bodyPr vert="horz" lIns="91440" tIns="45720" rIns="91440" bIns="45720" rtlCol="0" anchor="t">
            <a:normAutofit/>
          </a:bodyPr>
          <a:lstStyle/>
          <a:p>
            <a:r>
              <a:rPr lang="en-US"/>
              <a:t>Project Presentation</a:t>
            </a:r>
            <a:endParaRPr lang="en-US">
              <a:ea typeface="Calibri" panose="020F0502020204030204"/>
              <a:cs typeface="Calibri" panose="020F0502020204030204"/>
            </a:endParaRPr>
          </a:p>
          <a:p>
            <a:pPr>
              <a:buClr>
                <a:srgbClr val="FFFFFF"/>
              </a:buClr>
            </a:pPr>
            <a:r>
              <a:rPr lang="en-US" b="1" dirty="0">
                <a:ea typeface="+mn-lt"/>
                <a:cs typeface="+mn-lt"/>
              </a:rPr>
              <a:t>Submitted By:</a:t>
            </a:r>
            <a:br>
              <a:rPr lang="en-US" b="1" dirty="0">
                <a:ea typeface="+mn-lt"/>
                <a:cs typeface="+mn-lt"/>
              </a:rPr>
            </a:br>
            <a:r>
              <a:rPr lang="en-US" b="1" dirty="0">
                <a:ea typeface="+mn-lt"/>
                <a:cs typeface="+mn-lt"/>
              </a:rPr>
              <a:t>    </a:t>
            </a:r>
            <a:r>
              <a:rPr lang="en-US" b="1" dirty="0" err="1">
                <a:ea typeface="+mn-lt"/>
                <a:cs typeface="+mn-lt"/>
              </a:rPr>
              <a:t>Avanaganti</a:t>
            </a:r>
            <a:r>
              <a:rPr lang="en-US" b="1" dirty="0">
                <a:ea typeface="+mn-lt"/>
                <a:cs typeface="+mn-lt"/>
              </a:rPr>
              <a:t> Poojitha</a:t>
            </a:r>
            <a:endParaRPr lang="en-US" dirty="0"/>
          </a:p>
          <a:p>
            <a:pPr>
              <a:buClr>
                <a:srgbClr val="FFFFFF"/>
              </a:buClr>
            </a:pPr>
            <a:r>
              <a:rPr lang="en-US" b="1">
                <a:ea typeface="+mn-lt"/>
                <a:cs typeface="+mn-lt"/>
              </a:rPr>
              <a:t>Department:</a:t>
            </a:r>
            <a:br>
              <a:rPr lang="en-US" b="1" dirty="0">
                <a:ea typeface="+mn-lt"/>
                <a:cs typeface="+mn-lt"/>
              </a:rPr>
            </a:br>
            <a:r>
              <a:rPr lang="en-US" b="1">
                <a:ea typeface="+mn-lt"/>
                <a:cs typeface="+mn-lt"/>
              </a:rPr>
              <a:t>    Computer Science Engineering</a:t>
            </a:r>
            <a:endParaRPr lang="en-US"/>
          </a:p>
          <a:p>
            <a:pPr>
              <a:buClr>
                <a:srgbClr val="FFFFFF"/>
              </a:buClr>
            </a:pPr>
            <a:r>
              <a:rPr lang="en-US" b="1">
                <a:ea typeface="+mn-lt"/>
                <a:cs typeface="+mn-lt"/>
              </a:rPr>
              <a:t>College:</a:t>
            </a:r>
            <a:br>
              <a:rPr lang="en-US" b="1" dirty="0">
                <a:ea typeface="+mn-lt"/>
                <a:cs typeface="+mn-lt"/>
              </a:rPr>
            </a:br>
            <a:r>
              <a:rPr lang="en-US" b="1">
                <a:ea typeface="+mn-lt"/>
                <a:cs typeface="+mn-lt"/>
              </a:rPr>
              <a:t>   Sphoorthy Engineering College</a:t>
            </a:r>
            <a:endParaRPr lang="en-US"/>
          </a:p>
          <a:p>
            <a:pPr>
              <a:buClr>
                <a:srgbClr val="FFFFFF"/>
              </a:buClr>
            </a:pPr>
            <a:r>
              <a:rPr lang="en-US" b="1">
                <a:ea typeface="+mn-lt"/>
                <a:cs typeface="+mn-lt"/>
              </a:rPr>
              <a:t>Technology Stack:</a:t>
            </a:r>
            <a:br>
              <a:rPr lang="en-US" b="1" dirty="0">
                <a:ea typeface="+mn-lt"/>
                <a:cs typeface="+mn-lt"/>
              </a:rPr>
            </a:br>
            <a:r>
              <a:rPr lang="en-US" b="1">
                <a:ea typeface="+mn-lt"/>
                <a:cs typeface="+mn-lt"/>
              </a:rPr>
              <a:t>  MERN Stack with Artificial Intelligence</a:t>
            </a:r>
            <a:endParaRPr lang="en-US"/>
          </a:p>
          <a:p>
            <a:pPr>
              <a:buClr>
                <a:srgbClr val="FFFFFF"/>
              </a:buClr>
            </a:pPr>
            <a:r>
              <a:rPr lang="en-US" b="1">
                <a:ea typeface="+mn-lt"/>
                <a:cs typeface="+mn-lt"/>
              </a:rPr>
              <a:t>Academic Year:</a:t>
            </a:r>
            <a:br>
              <a:rPr lang="en-US" b="1" dirty="0">
                <a:ea typeface="+mn-lt"/>
                <a:cs typeface="+mn-lt"/>
              </a:rPr>
            </a:br>
            <a:r>
              <a:rPr lang="en-US" b="1">
                <a:ea typeface="+mn-lt"/>
                <a:cs typeface="+mn-lt"/>
              </a:rPr>
              <a:t> 2025 – 2026</a:t>
            </a:r>
            <a:endParaRPr lang="en-US"/>
          </a:p>
          <a:p>
            <a:pPr>
              <a:buClr>
                <a:srgbClr val="FFFFFF"/>
              </a:buClr>
            </a:pPr>
            <a:endParaRPr lang="en-US" dirty="0">
              <a:ea typeface="Calibri"/>
              <a:cs typeface="Calibri"/>
            </a:endParaRPr>
          </a:p>
        </p:txBody>
      </p:sp>
    </p:spTree>
    <p:extLst>
      <p:ext uri="{BB962C8B-B14F-4D97-AF65-F5344CB8AC3E}">
        <p14:creationId xmlns:p14="http://schemas.microsoft.com/office/powerpoint/2010/main" val="2382016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6CF68D-B721-82FD-CCE2-94707FF50BBF}"/>
              </a:ext>
            </a:extLst>
          </p:cNvPr>
          <p:cNvSpPr txBox="1"/>
          <p:nvPr/>
        </p:nvSpPr>
        <p:spPr>
          <a:xfrm>
            <a:off x="2087526" y="879738"/>
            <a:ext cx="8016948"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latin typeface="Times New Roman" panose="02020603050405020304" pitchFamily="18" charset="0"/>
                <a:cs typeface="Times New Roman" panose="02020603050405020304" pitchFamily="18" charset="0"/>
              </a:rPr>
              <a:t>ABSTRACT</a:t>
            </a:r>
            <a:endParaRPr lang="en-IN" sz="2800" b="1" dirty="0">
              <a:latin typeface="Times New Roman" panose="02020603050405020304" pitchFamily="18" charset="0"/>
              <a:cs typeface="Times New Roman" panose="02020603050405020304" pitchFamily="18" charset="0"/>
            </a:endParaRPr>
          </a:p>
        </p:txBody>
      </p:sp>
      <p:sp>
        <p:nvSpPr>
          <p:cNvPr id="3" name="TextBox 4">
            <a:extLst>
              <a:ext uri="{FF2B5EF4-FFF2-40B4-BE49-F238E27FC236}">
                <a16:creationId xmlns:a16="http://schemas.microsoft.com/office/drawing/2014/main" id="{78F9AD9E-43E8-FDE8-40CA-E9F6676220B1}"/>
              </a:ext>
            </a:extLst>
          </p:cNvPr>
          <p:cNvSpPr txBox="1"/>
          <p:nvPr/>
        </p:nvSpPr>
        <p:spPr>
          <a:xfrm>
            <a:off x="925033" y="1703294"/>
            <a:ext cx="10185226" cy="3139321"/>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a:ea typeface="+mn-lt"/>
                <a:cs typeface="+mn-lt"/>
              </a:rPr>
              <a:t>The </a:t>
            </a:r>
            <a:r>
              <a:rPr lang="en-US" b="1">
                <a:ea typeface="+mn-lt"/>
                <a:cs typeface="+mn-lt"/>
              </a:rPr>
              <a:t>AI Agentic Hiring Intelligence &amp; Recruitment Automation System</a:t>
            </a:r>
            <a:r>
              <a:rPr lang="en-US">
                <a:ea typeface="+mn-lt"/>
                <a:cs typeface="+mn-lt"/>
              </a:rPr>
              <a:t> is an AI-based recruitment platform that automates job data collection, hiring analysis, and recruitment management. The system collects job postings from multiple platforms and uses AI to extract skills, experience, salary details, and hiring trends.</a:t>
            </a:r>
            <a:endParaRPr lang="en-US"/>
          </a:p>
          <a:p>
            <a:pPr algn="just"/>
            <a:endParaRPr lang="en-US" dirty="0">
              <a:ea typeface="+mn-lt"/>
              <a:cs typeface="+mn-lt"/>
            </a:endParaRPr>
          </a:p>
          <a:p>
            <a:pPr algn="just"/>
            <a:r>
              <a:rPr lang="en-US">
                <a:ea typeface="+mn-lt"/>
                <a:cs typeface="+mn-lt"/>
              </a:rPr>
              <a:t>The project includes features like lead scoring, resume analysis, company intelligence, real-time dashboards, role-based access control, OTP email verification, and automated recruitment analytics for recruiters and candidates. It is developed using React.js, Node.js, MongoDB, Redis, Playwright, and Gemini AI to improve hiring efficiency, enhance recruitment accuracy, and reduce manual recruitment effort.</a:t>
            </a:r>
            <a:endParaRPr lang="en-US"/>
          </a:p>
          <a:p>
            <a:pPr algn="just"/>
            <a:endParaRPr lang="en-US" dirty="0">
              <a:latin typeface="Aptos"/>
              <a:cs typeface="Times New Roman"/>
            </a:endParaRPr>
          </a:p>
        </p:txBody>
      </p:sp>
    </p:spTree>
    <p:extLst>
      <p:ext uri="{BB962C8B-B14F-4D97-AF65-F5344CB8AC3E}">
        <p14:creationId xmlns:p14="http://schemas.microsoft.com/office/powerpoint/2010/main" val="3968326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9BC1C6-124F-D2EB-C6AF-E0E24F710199}"/>
              </a:ext>
            </a:extLst>
          </p:cNvPr>
          <p:cNvSpPr txBox="1"/>
          <p:nvPr/>
        </p:nvSpPr>
        <p:spPr>
          <a:xfrm>
            <a:off x="2687589" y="882626"/>
            <a:ext cx="7211683" cy="954107"/>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latin typeface="Times New Roman" panose="02020603050405020304" pitchFamily="18" charset="0"/>
                <a:cs typeface="Times New Roman" panose="02020603050405020304" pitchFamily="18" charset="0"/>
              </a:rPr>
              <a:t>INTRODUCTION</a:t>
            </a:r>
          </a:p>
          <a:p>
            <a:pPr algn="ctr"/>
            <a:endParaRPr lang="en-US" sz="28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B7ED6E34-E9B0-1B5B-E78B-D7D331226DD4}"/>
              </a:ext>
            </a:extLst>
          </p:cNvPr>
          <p:cNvSpPr>
            <a:spLocks noChangeArrowheads="1"/>
          </p:cNvSpPr>
          <p:nvPr/>
        </p:nvSpPr>
        <p:spPr bwMode="auto">
          <a:xfrm>
            <a:off x="1039368" y="1710926"/>
            <a:ext cx="1011326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ea typeface="+mn-lt"/>
                <a:cs typeface="+mn-lt"/>
              </a:rPr>
              <a:t>The </a:t>
            </a:r>
            <a:r>
              <a:rPr lang="en-US" b="1">
                <a:ea typeface="+mn-lt"/>
                <a:cs typeface="+mn-lt"/>
              </a:rPr>
              <a:t>AI Agentic Hiring Intelligence &amp; Recruitment Automation System</a:t>
            </a:r>
            <a:r>
              <a:rPr lang="en-US">
                <a:ea typeface="+mn-lt"/>
                <a:cs typeface="+mn-lt"/>
              </a:rPr>
              <a:t> is a smart AI-powered platform developed to simplify and automate the recruitment process. The system collects job data from multiple online platforms and analyzes it using Artificial Intelligence to generate meaningful hiring insights.</a:t>
            </a:r>
            <a:endParaRPr lang="en-US"/>
          </a:p>
          <a:p>
            <a:endParaRPr lang="en-US" dirty="0">
              <a:ea typeface="+mn-lt"/>
              <a:cs typeface="+mn-lt"/>
            </a:endParaRPr>
          </a:p>
          <a:p>
            <a:r>
              <a:rPr lang="en-US" dirty="0">
                <a:ea typeface="+mn-lt"/>
                <a:cs typeface="+mn-lt"/>
              </a:rPr>
              <a:t>The platform helps recruiters identify required skills, hiring trends, company growth patterns, and candidate suitability through intelligent analytics and real-time dashboards. It also provides features such as resume analysis, lead scoring, role-based access control, and automated recruitment management.</a:t>
            </a:r>
            <a:endParaRPr lang="en-US" dirty="0"/>
          </a:p>
          <a:p>
            <a:endParaRPr lang="en-US" dirty="0">
              <a:ea typeface="+mn-lt"/>
              <a:cs typeface="+mn-lt"/>
            </a:endParaRPr>
          </a:p>
          <a:p>
            <a:r>
              <a:rPr lang="en-US" dirty="0">
                <a:ea typeface="+mn-lt"/>
                <a:cs typeface="+mn-lt"/>
              </a:rPr>
              <a:t>The project is developed using modern technologies like React.js, Node.js, Express.js, MongoDB, Redis, Playwright, and Gemini AI. The main objective of the system is to improve hiring efficiency, reduce manual effort, and provide accurate recruitment intelligence through AI-driven automation.</a:t>
            </a:r>
            <a:endParaRPr lang="en-US" dirty="0"/>
          </a:p>
          <a:p>
            <a:endParaRPr lang="en-US" dirty="0">
              <a:latin typeface="Aptos"/>
              <a:ea typeface="+mn-lt"/>
              <a:cs typeface="Times New Roman"/>
            </a:endParaRPr>
          </a:p>
        </p:txBody>
      </p:sp>
    </p:spTree>
    <p:extLst>
      <p:ext uri="{BB962C8B-B14F-4D97-AF65-F5344CB8AC3E}">
        <p14:creationId xmlns:p14="http://schemas.microsoft.com/office/powerpoint/2010/main" val="3080916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6FBBF9-CA94-BB41-803A-A3F057BE196F}"/>
              </a:ext>
            </a:extLst>
          </p:cNvPr>
          <p:cNvSpPr txBox="1"/>
          <p:nvPr/>
        </p:nvSpPr>
        <p:spPr>
          <a:xfrm>
            <a:off x="2487564" y="739751"/>
            <a:ext cx="7211683" cy="400110"/>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latin typeface="Times New Roman"/>
                <a:cs typeface="Times New Roman"/>
              </a:rPr>
              <a:t>LITERATURE REVIEW EXTENSION</a:t>
            </a:r>
            <a:endParaRPr lang="en-US" sz="2000" dirty="0">
              <a:latin typeface="Times New Roman"/>
              <a:cs typeface="Times New Roman"/>
            </a:endParaRPr>
          </a:p>
        </p:txBody>
      </p:sp>
      <p:sp>
        <p:nvSpPr>
          <p:cNvPr id="5" name="Rectangle 4">
            <a:extLst>
              <a:ext uri="{FF2B5EF4-FFF2-40B4-BE49-F238E27FC236}">
                <a16:creationId xmlns:a16="http://schemas.microsoft.com/office/drawing/2014/main" id="{F883E444-FA08-EF27-6301-DE15BB07DD73}"/>
              </a:ext>
            </a:extLst>
          </p:cNvPr>
          <p:cNvSpPr>
            <a:spLocks noChangeArrowheads="1"/>
          </p:cNvSpPr>
          <p:nvPr/>
        </p:nvSpPr>
        <p:spPr bwMode="auto">
          <a:xfrm>
            <a:off x="1248918" y="1875609"/>
            <a:ext cx="1011326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Font typeface="Arial"/>
              <a:buChar char="•"/>
            </a:pPr>
            <a:r>
              <a:rPr lang="en-US">
                <a:ea typeface="+mn-lt"/>
                <a:cs typeface="+mn-lt"/>
              </a:rPr>
              <a:t>Traditional recruitment systems require significant manual effort for job searching, candidate screening, and hiring analysis. Existing recruitment platforms provide limited automation and lack intelligent insights for understanding hiring trends and skill demands.</a:t>
            </a:r>
            <a:endParaRPr lang="en-US" dirty="0">
              <a:latin typeface="Aptos"/>
              <a:ea typeface="+mn-lt"/>
              <a:cs typeface="Times New Roman"/>
            </a:endParaRPr>
          </a:p>
          <a:p>
            <a:endParaRPr lang="en-US" dirty="0">
              <a:ea typeface="+mn-lt"/>
              <a:cs typeface="+mn-lt"/>
            </a:endParaRPr>
          </a:p>
          <a:p>
            <a:pPr>
              <a:buFont typeface="Arial"/>
              <a:buChar char="•"/>
            </a:pPr>
            <a:r>
              <a:rPr lang="en-US">
                <a:ea typeface="+mn-lt"/>
                <a:cs typeface="+mn-lt"/>
              </a:rPr>
              <a:t>Recent advancements in Artificial Intelligence, Machine Learning, and web scraping technologies have improved recruitment processes through automated job analysis, skill extraction, and predictive analytics. Modern systems focus on automation, real-time analytics, and intelligent decision-making to improve recruitment efficiency.</a:t>
            </a:r>
            <a:endParaRPr lang="en-US"/>
          </a:p>
          <a:p>
            <a:pPr>
              <a:buFont typeface="Arial"/>
              <a:buChar char="•"/>
            </a:pPr>
            <a:endParaRPr lang="en-US" dirty="0">
              <a:ea typeface="+mn-lt"/>
              <a:cs typeface="+mn-lt"/>
            </a:endParaRPr>
          </a:p>
          <a:p>
            <a:pPr>
              <a:buFont typeface="Arial"/>
              <a:buChar char="•"/>
            </a:pPr>
            <a:r>
              <a:rPr lang="en-US" dirty="0">
                <a:ea typeface="+mn-lt"/>
                <a:cs typeface="+mn-lt"/>
              </a:rPr>
              <a:t>The proposed system combines AI, autonomous scraping agents, recruitment analytics, and real-time dashboards into a single intelligent platform to automate hiring processes and provide better recruitment insights.</a:t>
            </a:r>
            <a:endParaRPr lang="en-US" dirty="0"/>
          </a:p>
          <a:p>
            <a:pPr marL="285750" indent="-285750">
              <a:buFont typeface="Arial"/>
              <a:buChar char="•"/>
            </a:pPr>
            <a:endParaRPr lang="en-US" dirty="0">
              <a:latin typeface="Aptos"/>
              <a:ea typeface="+mn-lt"/>
              <a:cs typeface="Times New Roman"/>
            </a:endParaRPr>
          </a:p>
        </p:txBody>
      </p:sp>
    </p:spTree>
    <p:extLst>
      <p:ext uri="{BB962C8B-B14F-4D97-AF65-F5344CB8AC3E}">
        <p14:creationId xmlns:p14="http://schemas.microsoft.com/office/powerpoint/2010/main" val="1176320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B9A668-801F-9E0B-4B88-5BC19DAB8C47}"/>
              </a:ext>
            </a:extLst>
          </p:cNvPr>
          <p:cNvSpPr txBox="1"/>
          <p:nvPr/>
        </p:nvSpPr>
        <p:spPr>
          <a:xfrm>
            <a:off x="1257300" y="1581150"/>
            <a:ext cx="96774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Traditional recruitment systems involve manual job collection, candidate screening, and hiring analysis, which consume significant time and effort. Existing platforms often lack intelligent automation, real-time hiring insights, and efficient recruitment analytics, making it difficult for recruiters to identify suitable candidates and track market trends effectively.</a:t>
            </a:r>
            <a:endParaRPr lang="en-US" dirty="0"/>
          </a:p>
          <a:p>
            <a:endParaRPr lang="en-US" dirty="0">
              <a:ea typeface="+mn-lt"/>
              <a:cs typeface="+mn-lt"/>
            </a:endParaRPr>
          </a:p>
          <a:p>
            <a:r>
              <a:rPr lang="en-US" dirty="0">
                <a:ea typeface="+mn-lt"/>
                <a:cs typeface="+mn-lt"/>
              </a:rPr>
              <a:t>There is a need for a smart recruitment system that can automatically collect job data, analyze hiring requirements using Artificial Intelligence, and provide real-time insights such as skill demand, hiring trends, and company lead scoring. The proposed system aims to solve these challenges by providing an AI-powered recruitment automation platform that improves hiring efficiency, reduces manual work, and supports better recruitment decision-making.</a:t>
            </a:r>
            <a:endParaRPr lang="en-US" dirty="0"/>
          </a:p>
          <a:p>
            <a:endParaRPr lang="en-US" dirty="0">
              <a:latin typeface="Times New Roman"/>
              <a:cs typeface="Times New Roman"/>
            </a:endParaRPr>
          </a:p>
        </p:txBody>
      </p:sp>
      <p:sp>
        <p:nvSpPr>
          <p:cNvPr id="3" name="TextBox 2">
            <a:extLst>
              <a:ext uri="{FF2B5EF4-FFF2-40B4-BE49-F238E27FC236}">
                <a16:creationId xmlns:a16="http://schemas.microsoft.com/office/drawing/2014/main" id="{3FA43B48-0DCF-C756-9A4B-2E2364B087EE}"/>
              </a:ext>
            </a:extLst>
          </p:cNvPr>
          <p:cNvSpPr txBox="1"/>
          <p:nvPr/>
        </p:nvSpPr>
        <p:spPr>
          <a:xfrm>
            <a:off x="2962275" y="704850"/>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latin typeface="Times New Roman"/>
                <a:cs typeface="Times New Roman"/>
              </a:rPr>
              <a:t>PROBLEM STATEMENT</a:t>
            </a:r>
            <a:endParaRPr lang="en-US" sz="2800" b="1" dirty="0">
              <a:latin typeface="Times New Roman"/>
              <a:cs typeface="Times New Roman"/>
            </a:endParaRPr>
          </a:p>
        </p:txBody>
      </p:sp>
    </p:spTree>
    <p:extLst>
      <p:ext uri="{BB962C8B-B14F-4D97-AF65-F5344CB8AC3E}">
        <p14:creationId xmlns:p14="http://schemas.microsoft.com/office/powerpoint/2010/main" val="2474527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C652F9-D526-257C-EED8-2783A11698A8}"/>
              </a:ext>
            </a:extLst>
          </p:cNvPr>
          <p:cNvSpPr txBox="1"/>
          <p:nvPr/>
        </p:nvSpPr>
        <p:spPr>
          <a:xfrm>
            <a:off x="3685927" y="1030940"/>
            <a:ext cx="385563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Times New Roman"/>
              </a:rPr>
              <a:t>TECHNOLOGIES</a:t>
            </a:r>
            <a:r>
              <a:rPr lang="en-US">
                <a:latin typeface="Times New Roman"/>
                <a:cs typeface="Times New Roman"/>
              </a:rPr>
              <a:t>    </a:t>
            </a:r>
            <a:r>
              <a:rPr lang="en-US" sz="2400">
                <a:latin typeface="Times New Roman"/>
                <a:cs typeface="Times New Roman"/>
              </a:rPr>
              <a:t>USED</a:t>
            </a:r>
          </a:p>
        </p:txBody>
      </p:sp>
      <p:sp>
        <p:nvSpPr>
          <p:cNvPr id="6" name="TextBox 5">
            <a:extLst>
              <a:ext uri="{FF2B5EF4-FFF2-40B4-BE49-F238E27FC236}">
                <a16:creationId xmlns:a16="http://schemas.microsoft.com/office/drawing/2014/main" id="{08929DCE-5270-0AE2-6373-AB597964146E}"/>
              </a:ext>
            </a:extLst>
          </p:cNvPr>
          <p:cNvSpPr txBox="1"/>
          <p:nvPr/>
        </p:nvSpPr>
        <p:spPr>
          <a:xfrm>
            <a:off x="1837764" y="2151529"/>
            <a:ext cx="570379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ea typeface="+mn-lt"/>
                <a:cs typeface="+mn-lt"/>
              </a:rPr>
              <a:t>Frontend:</a:t>
            </a:r>
            <a:r>
              <a:rPr lang="en-US">
                <a:ea typeface="+mn-lt"/>
                <a:cs typeface="+mn-lt"/>
              </a:rPr>
              <a:t> React.js, Vite, Tailwind CSS, Redux Toolkit </a:t>
            </a:r>
            <a:endParaRPr lang="en-US"/>
          </a:p>
          <a:p>
            <a:pPr marL="285750" indent="-285750">
              <a:buFont typeface="Arial"/>
              <a:buChar char="•"/>
            </a:pPr>
            <a:r>
              <a:rPr lang="en-US" b="1">
                <a:ea typeface="+mn-lt"/>
                <a:cs typeface="+mn-lt"/>
              </a:rPr>
              <a:t>Backend:</a:t>
            </a:r>
            <a:r>
              <a:rPr lang="en-US">
                <a:ea typeface="+mn-lt"/>
                <a:cs typeface="+mn-lt"/>
              </a:rPr>
              <a:t> Node.js, Express.js </a:t>
            </a:r>
            <a:endParaRPr lang="en-US"/>
          </a:p>
          <a:p>
            <a:pPr marL="285750" indent="-285750">
              <a:buFont typeface="Arial"/>
              <a:buChar char="•"/>
            </a:pPr>
            <a:r>
              <a:rPr lang="en-US" b="1">
                <a:ea typeface="+mn-lt"/>
                <a:cs typeface="+mn-lt"/>
              </a:rPr>
              <a:t>Database:</a:t>
            </a:r>
            <a:r>
              <a:rPr lang="en-US">
                <a:ea typeface="+mn-lt"/>
                <a:cs typeface="+mn-lt"/>
              </a:rPr>
              <a:t> MongoDB, Mongoose </a:t>
            </a:r>
            <a:endParaRPr lang="en-US"/>
          </a:p>
          <a:p>
            <a:pPr marL="285750" indent="-285750">
              <a:buFont typeface="Arial"/>
              <a:buChar char="•"/>
            </a:pPr>
            <a:r>
              <a:rPr lang="en-US" b="1" dirty="0">
                <a:ea typeface="+mn-lt"/>
                <a:cs typeface="+mn-lt"/>
              </a:rPr>
              <a:t>AI Technologies:</a:t>
            </a:r>
            <a:r>
              <a:rPr lang="en-US" dirty="0">
                <a:ea typeface="+mn-lt"/>
                <a:cs typeface="+mn-lt"/>
              </a:rPr>
              <a:t> Gemini AI, </a:t>
            </a:r>
            <a:r>
              <a:rPr lang="en-US" dirty="0" err="1">
                <a:ea typeface="+mn-lt"/>
                <a:cs typeface="+mn-lt"/>
              </a:rPr>
              <a:t>Groq</a:t>
            </a:r>
            <a:r>
              <a:rPr lang="en-US" dirty="0">
                <a:ea typeface="+mn-lt"/>
                <a:cs typeface="+mn-lt"/>
              </a:rPr>
              <a:t> API </a:t>
            </a:r>
            <a:endParaRPr lang="en-US" dirty="0"/>
          </a:p>
          <a:p>
            <a:pPr marL="285750" indent="-285750">
              <a:buFont typeface="Arial"/>
              <a:buChar char="•"/>
            </a:pPr>
            <a:r>
              <a:rPr lang="en-US" b="1">
                <a:ea typeface="+mn-lt"/>
                <a:cs typeface="+mn-lt"/>
              </a:rPr>
              <a:t>Web Scraping:</a:t>
            </a:r>
            <a:r>
              <a:rPr lang="en-US">
                <a:ea typeface="+mn-lt"/>
                <a:cs typeface="+mn-lt"/>
              </a:rPr>
              <a:t> Playwright, Cheerio </a:t>
            </a:r>
            <a:endParaRPr lang="en-US"/>
          </a:p>
          <a:p>
            <a:pPr marL="285750" indent="-285750">
              <a:buFont typeface="Arial"/>
              <a:buChar char="•"/>
            </a:pPr>
            <a:r>
              <a:rPr lang="en-US" b="1" dirty="0">
                <a:ea typeface="+mn-lt"/>
                <a:cs typeface="+mn-lt"/>
              </a:rPr>
              <a:t>Authentication &amp; Security:</a:t>
            </a:r>
            <a:r>
              <a:rPr lang="en-US" dirty="0">
                <a:ea typeface="+mn-lt"/>
                <a:cs typeface="+mn-lt"/>
              </a:rPr>
              <a:t> JWT, </a:t>
            </a:r>
            <a:r>
              <a:rPr lang="en-US" dirty="0" err="1">
                <a:ea typeface="+mn-lt"/>
                <a:cs typeface="+mn-lt"/>
              </a:rPr>
              <a:t>Bcrypt</a:t>
            </a:r>
            <a:r>
              <a:rPr lang="en-US" dirty="0">
                <a:ea typeface="+mn-lt"/>
                <a:cs typeface="+mn-lt"/>
              </a:rPr>
              <a:t>, OTP Verification </a:t>
            </a:r>
            <a:endParaRPr lang="en-US" dirty="0"/>
          </a:p>
          <a:p>
            <a:pPr marL="285750" indent="-285750">
              <a:buFont typeface="Arial"/>
              <a:buChar char="•"/>
            </a:pPr>
            <a:r>
              <a:rPr lang="en-US" b="1" dirty="0">
                <a:ea typeface="+mn-lt"/>
                <a:cs typeface="+mn-lt"/>
              </a:rPr>
              <a:t>Background Processing:</a:t>
            </a:r>
            <a:r>
              <a:rPr lang="en-US" dirty="0">
                <a:ea typeface="+mn-lt"/>
                <a:cs typeface="+mn-lt"/>
              </a:rPr>
              <a:t> Redis, </a:t>
            </a:r>
            <a:r>
              <a:rPr lang="en-US" dirty="0" err="1">
                <a:ea typeface="+mn-lt"/>
                <a:cs typeface="+mn-lt"/>
              </a:rPr>
              <a:t>BullMQ</a:t>
            </a:r>
            <a:r>
              <a:rPr lang="en-US" dirty="0">
                <a:ea typeface="+mn-lt"/>
                <a:cs typeface="+mn-lt"/>
              </a:rPr>
              <a:t> </a:t>
            </a:r>
            <a:endParaRPr lang="en-US" dirty="0"/>
          </a:p>
          <a:p>
            <a:pPr marL="285750" indent="-285750">
              <a:buFont typeface="Arial"/>
              <a:buChar char="•"/>
            </a:pPr>
            <a:r>
              <a:rPr lang="en-US" b="1">
                <a:ea typeface="+mn-lt"/>
                <a:cs typeface="+mn-lt"/>
              </a:rPr>
              <a:t>Data Visualization:</a:t>
            </a:r>
            <a:r>
              <a:rPr lang="en-US">
                <a:ea typeface="+mn-lt"/>
                <a:cs typeface="+mn-lt"/>
              </a:rPr>
              <a:t> Recharts, Framer Motion </a:t>
            </a:r>
            <a:endParaRPr lang="en-US"/>
          </a:p>
          <a:p>
            <a:pPr marL="285750" indent="-285750">
              <a:buFont typeface="Arial"/>
              <a:buChar char="•"/>
            </a:pPr>
            <a:r>
              <a:rPr lang="en-US" b="1">
                <a:ea typeface="+mn-lt"/>
                <a:cs typeface="+mn-lt"/>
              </a:rPr>
              <a:t>Version Control:</a:t>
            </a:r>
            <a:r>
              <a:rPr lang="en-US">
                <a:ea typeface="+mn-lt"/>
                <a:cs typeface="+mn-lt"/>
              </a:rPr>
              <a:t> Git &amp; GitHub</a:t>
            </a:r>
            <a:endParaRPr lang="en-US"/>
          </a:p>
          <a:p>
            <a:pPr algn="l"/>
            <a:endParaRPr lang="en-US" dirty="0"/>
          </a:p>
        </p:txBody>
      </p:sp>
    </p:spTree>
    <p:extLst>
      <p:ext uri="{BB962C8B-B14F-4D97-AF65-F5344CB8AC3E}">
        <p14:creationId xmlns:p14="http://schemas.microsoft.com/office/powerpoint/2010/main" val="4180649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D9DBD8-1F7D-FA3B-7283-406FB7A0714B}"/>
              </a:ext>
            </a:extLst>
          </p:cNvPr>
          <p:cNvSpPr txBox="1"/>
          <p:nvPr/>
        </p:nvSpPr>
        <p:spPr>
          <a:xfrm>
            <a:off x="239485" y="2902404"/>
            <a:ext cx="40386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baseline="0" dirty="0">
                <a:latin typeface="Garamond"/>
              </a:rPr>
              <a:t>DESIGN</a:t>
            </a:r>
            <a:endParaRPr lang="en-US" dirty="0"/>
          </a:p>
        </p:txBody>
      </p:sp>
      <p:pic>
        <p:nvPicPr>
          <p:cNvPr id="4" name="Picture 3" descr="A diagram of a software application&#10;&#10;AI-generated content may be incorrect.">
            <a:extLst>
              <a:ext uri="{FF2B5EF4-FFF2-40B4-BE49-F238E27FC236}">
                <a16:creationId xmlns:a16="http://schemas.microsoft.com/office/drawing/2014/main" id="{4AFF8B97-AD77-8230-1CC6-5B6AE137A52A}"/>
              </a:ext>
            </a:extLst>
          </p:cNvPr>
          <p:cNvPicPr>
            <a:picLocks noChangeAspect="1"/>
          </p:cNvPicPr>
          <p:nvPr/>
        </p:nvPicPr>
        <p:blipFill>
          <a:blip r:embed="rId2"/>
          <a:stretch>
            <a:fillRect/>
          </a:stretch>
        </p:blipFill>
        <p:spPr>
          <a:xfrm>
            <a:off x="3524250" y="0"/>
            <a:ext cx="8846820" cy="6858000"/>
          </a:xfrm>
          <a:prstGeom prst="rect">
            <a:avLst/>
          </a:prstGeom>
        </p:spPr>
      </p:pic>
    </p:spTree>
    <p:extLst>
      <p:ext uri="{BB962C8B-B14F-4D97-AF65-F5344CB8AC3E}">
        <p14:creationId xmlns:p14="http://schemas.microsoft.com/office/powerpoint/2010/main" val="3741950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diagram of a software company&#10;&#10;AI-generated content may be incorrect.">
            <a:extLst>
              <a:ext uri="{FF2B5EF4-FFF2-40B4-BE49-F238E27FC236}">
                <a16:creationId xmlns:a16="http://schemas.microsoft.com/office/drawing/2014/main" id="{6F40F231-6C88-60B8-003E-A8B83C72343E}"/>
              </a:ext>
            </a:extLst>
          </p:cNvPr>
          <p:cNvPicPr>
            <a:picLocks noChangeAspect="1"/>
          </p:cNvPicPr>
          <p:nvPr/>
        </p:nvPicPr>
        <p:blipFill>
          <a:blip r:embed="rId2"/>
          <a:stretch>
            <a:fillRect/>
          </a:stretch>
        </p:blipFill>
        <p:spPr>
          <a:xfrm>
            <a:off x="801020" y="299509"/>
            <a:ext cx="4177871" cy="6258983"/>
          </a:xfrm>
          <a:prstGeom prst="rect">
            <a:avLst/>
          </a:prstGeom>
        </p:spPr>
      </p:pic>
      <p:sp>
        <p:nvSpPr>
          <p:cNvPr id="3" name="TextBox 2">
            <a:extLst>
              <a:ext uri="{FF2B5EF4-FFF2-40B4-BE49-F238E27FC236}">
                <a16:creationId xmlns:a16="http://schemas.microsoft.com/office/drawing/2014/main" id="{15B2144D-8B7C-C78A-BF37-CFAA1D70A9C6}"/>
              </a:ext>
            </a:extLst>
          </p:cNvPr>
          <p:cNvSpPr txBox="1"/>
          <p:nvPr/>
        </p:nvSpPr>
        <p:spPr>
          <a:xfrm>
            <a:off x="6392583" y="2645922"/>
            <a:ext cx="4434721" cy="371042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800" b="1" dirty="0">
                <a:solidFill>
                  <a:schemeClr val="tx1">
                    <a:alpha val="80000"/>
                  </a:schemeClr>
                </a:solidFill>
              </a:rPr>
              <a:t>                </a:t>
            </a:r>
            <a:r>
              <a:rPr lang="en-US" sz="2800" b="1">
                <a:solidFill>
                  <a:schemeClr val="tx1">
                    <a:alpha val="80000"/>
                  </a:schemeClr>
                </a:solidFill>
                <a:latin typeface="Book Antiqua"/>
              </a:rPr>
              <a:t>DESIGN</a:t>
            </a:r>
            <a:endParaRPr lang="en-US" sz="2800">
              <a:solidFill>
                <a:schemeClr val="tx1">
                  <a:alpha val="80000"/>
                </a:schemeClr>
              </a:solidFill>
              <a:latin typeface="Book Antiqua"/>
            </a:endParaRPr>
          </a:p>
        </p:txBody>
      </p:sp>
    </p:spTree>
    <p:extLst>
      <p:ext uri="{BB962C8B-B14F-4D97-AF65-F5344CB8AC3E}">
        <p14:creationId xmlns:p14="http://schemas.microsoft.com/office/powerpoint/2010/main" val="4112447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24532F-9460-9B5C-D82C-716229845413}"/>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200" b="1">
                <a:latin typeface="Times New Roman"/>
                <a:cs typeface="Times New Roman"/>
              </a:rPr>
              <a:t>System</a:t>
            </a:r>
            <a:r>
              <a:rPr lang="en-US" sz="2200" b="1" dirty="0">
                <a:latin typeface="Times New Roman"/>
                <a:cs typeface="Times New Roman"/>
              </a:rPr>
              <a:t> Architecture Design</a:t>
            </a:r>
            <a:endParaRPr lang="en-US">
              <a:latin typeface="Times New Roman"/>
              <a:cs typeface="Times New Roman"/>
            </a:endParaRPr>
          </a:p>
        </p:txBody>
      </p:sp>
      <p:pic>
        <p:nvPicPr>
          <p:cNvPr id="4" name="Picture 3" descr="A diagram of a company&#10;&#10;AI-generated content may be incorrect.">
            <a:extLst>
              <a:ext uri="{FF2B5EF4-FFF2-40B4-BE49-F238E27FC236}">
                <a16:creationId xmlns:a16="http://schemas.microsoft.com/office/drawing/2014/main" id="{2E546F19-CA65-E28B-DBB1-1278FC794B3F}"/>
              </a:ext>
            </a:extLst>
          </p:cNvPr>
          <p:cNvPicPr>
            <a:picLocks noChangeAspect="1"/>
          </p:cNvPicPr>
          <p:nvPr/>
        </p:nvPicPr>
        <p:blipFill>
          <a:blip r:embed="rId2"/>
          <a:stretch>
            <a:fillRect/>
          </a:stretch>
        </p:blipFill>
        <p:spPr>
          <a:xfrm>
            <a:off x="4654296" y="1124883"/>
            <a:ext cx="6903720" cy="4608233"/>
          </a:xfrm>
          <a:prstGeom prst="rect">
            <a:avLst/>
          </a:prstGeom>
        </p:spPr>
      </p:pic>
    </p:spTree>
    <p:extLst>
      <p:ext uri="{BB962C8B-B14F-4D97-AF65-F5344CB8AC3E}">
        <p14:creationId xmlns:p14="http://schemas.microsoft.com/office/powerpoint/2010/main" val="585440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E6AB67-6EFF-664D-4C81-743CBDB206BE}"/>
              </a:ext>
            </a:extLst>
          </p:cNvPr>
          <p:cNvSpPr txBox="1"/>
          <p:nvPr/>
        </p:nvSpPr>
        <p:spPr>
          <a:xfrm>
            <a:off x="5007429" y="1045029"/>
            <a:ext cx="280851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dirty="0">
                <a:latin typeface="Garamond"/>
              </a:rPr>
              <a:t>REFERENCES</a:t>
            </a:r>
            <a:endParaRPr lang="en-US" dirty="0"/>
          </a:p>
        </p:txBody>
      </p:sp>
      <p:sp>
        <p:nvSpPr>
          <p:cNvPr id="3" name="TextBox 2">
            <a:extLst>
              <a:ext uri="{FF2B5EF4-FFF2-40B4-BE49-F238E27FC236}">
                <a16:creationId xmlns:a16="http://schemas.microsoft.com/office/drawing/2014/main" id="{8DF06406-93CF-E837-6D3F-705138FCB028}"/>
              </a:ext>
            </a:extLst>
          </p:cNvPr>
          <p:cNvSpPr txBox="1"/>
          <p:nvPr/>
        </p:nvSpPr>
        <p:spPr>
          <a:xfrm>
            <a:off x="1251856" y="2133600"/>
            <a:ext cx="969917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a:ea typeface="+mn-lt"/>
                <a:cs typeface="+mn-lt"/>
              </a:rPr>
              <a:t>React.js Documentation – </a:t>
            </a:r>
            <a:r>
              <a:rPr lang="en-US" dirty="0">
                <a:ea typeface="+mn-lt"/>
                <a:cs typeface="+mn-lt"/>
                <a:hlinkClick r:id="rId2"/>
              </a:rPr>
              <a:t>https://react.dev</a:t>
            </a:r>
            <a:r>
              <a:rPr lang="en-US" dirty="0">
                <a:ea typeface="+mn-lt"/>
                <a:cs typeface="+mn-lt"/>
              </a:rPr>
              <a:t> </a:t>
            </a:r>
            <a:endParaRPr lang="en-US" dirty="0">
              <a:latin typeface="Times New Roman"/>
              <a:cs typeface="Times New Roman"/>
            </a:endParaRPr>
          </a:p>
          <a:p>
            <a:pPr>
              <a:buFont typeface="Arial"/>
              <a:buChar char="•"/>
            </a:pPr>
            <a:r>
              <a:rPr lang="en-US">
                <a:ea typeface="+mn-lt"/>
                <a:cs typeface="+mn-lt"/>
              </a:rPr>
              <a:t>Node.js Documentation – </a:t>
            </a:r>
            <a:r>
              <a:rPr lang="en-US" dirty="0">
                <a:ea typeface="+mn-lt"/>
                <a:cs typeface="+mn-lt"/>
                <a:hlinkClick r:id="rId3"/>
              </a:rPr>
              <a:t>https://nodejs.org</a:t>
            </a:r>
            <a:r>
              <a:rPr lang="en-US" dirty="0">
                <a:ea typeface="+mn-lt"/>
                <a:cs typeface="+mn-lt"/>
              </a:rPr>
              <a:t> </a:t>
            </a:r>
            <a:endParaRPr lang="en-US" dirty="0"/>
          </a:p>
          <a:p>
            <a:pPr>
              <a:buFont typeface="Arial"/>
              <a:buChar char="•"/>
            </a:pPr>
            <a:r>
              <a:rPr lang="en-US">
                <a:ea typeface="+mn-lt"/>
                <a:cs typeface="+mn-lt"/>
              </a:rPr>
              <a:t>MongoDB Documentation – </a:t>
            </a:r>
            <a:r>
              <a:rPr lang="en-US" dirty="0">
                <a:ea typeface="+mn-lt"/>
                <a:cs typeface="+mn-lt"/>
                <a:hlinkClick r:id="rId4"/>
              </a:rPr>
              <a:t>https://www.mongodb.com/docs</a:t>
            </a:r>
            <a:r>
              <a:rPr lang="en-US" dirty="0">
                <a:ea typeface="+mn-lt"/>
                <a:cs typeface="+mn-lt"/>
              </a:rPr>
              <a:t> </a:t>
            </a:r>
            <a:endParaRPr lang="en-US" dirty="0"/>
          </a:p>
          <a:p>
            <a:pPr>
              <a:buFont typeface="Arial"/>
              <a:buChar char="•"/>
            </a:pPr>
            <a:r>
              <a:rPr lang="en-US">
                <a:ea typeface="+mn-lt"/>
                <a:cs typeface="+mn-lt"/>
              </a:rPr>
              <a:t>Express.js Documentation – </a:t>
            </a:r>
            <a:r>
              <a:rPr lang="en-US" dirty="0">
                <a:ea typeface="+mn-lt"/>
                <a:cs typeface="+mn-lt"/>
                <a:hlinkClick r:id="rId5"/>
              </a:rPr>
              <a:t>https://expressjs.com</a:t>
            </a:r>
            <a:r>
              <a:rPr lang="en-US" dirty="0">
                <a:ea typeface="+mn-lt"/>
                <a:cs typeface="+mn-lt"/>
              </a:rPr>
              <a:t> </a:t>
            </a:r>
            <a:endParaRPr lang="en-US" dirty="0"/>
          </a:p>
          <a:p>
            <a:pPr>
              <a:buFont typeface="Arial"/>
              <a:buChar char="•"/>
            </a:pPr>
            <a:r>
              <a:rPr lang="en-US">
                <a:ea typeface="+mn-lt"/>
                <a:cs typeface="+mn-lt"/>
              </a:rPr>
              <a:t>Playwright Documentation – </a:t>
            </a:r>
            <a:r>
              <a:rPr lang="en-US" dirty="0">
                <a:ea typeface="+mn-lt"/>
                <a:cs typeface="+mn-lt"/>
                <a:hlinkClick r:id="rId6"/>
              </a:rPr>
              <a:t>https://playwright.dev</a:t>
            </a:r>
            <a:r>
              <a:rPr lang="en-US" dirty="0">
                <a:ea typeface="+mn-lt"/>
                <a:cs typeface="+mn-lt"/>
              </a:rPr>
              <a:t> </a:t>
            </a:r>
            <a:endParaRPr lang="en-US" dirty="0"/>
          </a:p>
          <a:p>
            <a:pPr>
              <a:buFont typeface="Arial"/>
              <a:buChar char="•"/>
            </a:pPr>
            <a:r>
              <a:rPr lang="en-US">
                <a:ea typeface="+mn-lt"/>
                <a:cs typeface="+mn-lt"/>
              </a:rPr>
              <a:t>Tailwind CSS Documentation – </a:t>
            </a:r>
            <a:r>
              <a:rPr lang="en-US" dirty="0">
                <a:ea typeface="+mn-lt"/>
                <a:cs typeface="+mn-lt"/>
                <a:hlinkClick r:id="rId7"/>
              </a:rPr>
              <a:t>https://tailwindcss.com</a:t>
            </a:r>
            <a:r>
              <a:rPr lang="en-US" dirty="0">
                <a:ea typeface="+mn-lt"/>
                <a:cs typeface="+mn-lt"/>
              </a:rPr>
              <a:t> </a:t>
            </a:r>
            <a:endParaRPr lang="en-US" dirty="0"/>
          </a:p>
          <a:p>
            <a:pPr>
              <a:buFont typeface="Arial"/>
              <a:buChar char="•"/>
            </a:pPr>
            <a:r>
              <a:rPr lang="en-US">
                <a:ea typeface="+mn-lt"/>
                <a:cs typeface="+mn-lt"/>
              </a:rPr>
              <a:t>Google Gemini AI Documentation – </a:t>
            </a:r>
            <a:r>
              <a:rPr lang="en-US" dirty="0">
                <a:ea typeface="+mn-lt"/>
                <a:cs typeface="+mn-lt"/>
                <a:hlinkClick r:id="rId8"/>
              </a:rPr>
              <a:t>https://ai.google.dev</a:t>
            </a:r>
            <a:r>
              <a:rPr lang="en-US" dirty="0">
                <a:ea typeface="+mn-lt"/>
                <a:cs typeface="+mn-lt"/>
              </a:rPr>
              <a:t> </a:t>
            </a:r>
            <a:endParaRPr lang="en-US" dirty="0"/>
          </a:p>
          <a:p>
            <a:pPr>
              <a:buFont typeface="Arial"/>
              <a:buChar char="•"/>
            </a:pPr>
            <a:r>
              <a:rPr lang="en-US">
                <a:ea typeface="+mn-lt"/>
                <a:cs typeface="+mn-lt"/>
              </a:rPr>
              <a:t>Redis Documentation – </a:t>
            </a:r>
            <a:r>
              <a:rPr lang="en-US" dirty="0">
                <a:ea typeface="+mn-lt"/>
                <a:cs typeface="+mn-lt"/>
                <a:hlinkClick r:id="rId9"/>
              </a:rPr>
              <a:t>https://redis.io/docs</a:t>
            </a:r>
            <a:r>
              <a:rPr lang="en-US" dirty="0">
                <a:ea typeface="+mn-lt"/>
                <a:cs typeface="+mn-lt"/>
              </a:rPr>
              <a:t> </a:t>
            </a:r>
            <a:endParaRPr lang="en-US" dirty="0"/>
          </a:p>
          <a:p>
            <a:pPr>
              <a:buFont typeface="Arial"/>
              <a:buChar char="•"/>
            </a:pPr>
            <a:r>
              <a:rPr lang="en-US" dirty="0" err="1">
                <a:ea typeface="+mn-lt"/>
                <a:cs typeface="+mn-lt"/>
              </a:rPr>
              <a:t>BullMQ</a:t>
            </a:r>
            <a:r>
              <a:rPr lang="en-US" dirty="0">
                <a:ea typeface="+mn-lt"/>
                <a:cs typeface="+mn-lt"/>
              </a:rPr>
              <a:t> Documentation – </a:t>
            </a:r>
            <a:r>
              <a:rPr lang="en-US" dirty="0">
                <a:ea typeface="+mn-lt"/>
                <a:cs typeface="+mn-lt"/>
                <a:hlinkClick r:id="rId10"/>
              </a:rPr>
              <a:t>https://docs.bullmq.io</a:t>
            </a:r>
            <a:r>
              <a:rPr lang="en-US" dirty="0">
                <a:ea typeface="+mn-lt"/>
                <a:cs typeface="+mn-lt"/>
              </a:rPr>
              <a:t> </a:t>
            </a:r>
            <a:endParaRPr lang="en-US" dirty="0"/>
          </a:p>
          <a:p>
            <a:pPr>
              <a:buFont typeface="Arial"/>
              <a:buChar char="•"/>
            </a:pPr>
            <a:r>
              <a:rPr lang="en-US">
                <a:ea typeface="+mn-lt"/>
                <a:cs typeface="+mn-lt"/>
              </a:rPr>
              <a:t>Research Papers on AI-based Recruitment and Hiring Analytics </a:t>
            </a:r>
            <a:endParaRPr lang="en-US"/>
          </a:p>
          <a:p>
            <a:pPr marL="228600" indent="-228600">
              <a:buAutoNum type="arabicPeriod"/>
            </a:pPr>
            <a:endParaRPr lang="en-US" dirty="0">
              <a:latin typeface="Times New Roman"/>
              <a:cs typeface="Times New Roman"/>
            </a:endParaRPr>
          </a:p>
        </p:txBody>
      </p:sp>
    </p:spTree>
    <p:extLst>
      <p:ext uri="{BB962C8B-B14F-4D97-AF65-F5344CB8AC3E}">
        <p14:creationId xmlns:p14="http://schemas.microsoft.com/office/powerpoint/2010/main" val="3642569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dog running on a beach holding a sign&#10;&#10;AI-generated content may be incorrect.">
            <a:extLst>
              <a:ext uri="{FF2B5EF4-FFF2-40B4-BE49-F238E27FC236}">
                <a16:creationId xmlns:a16="http://schemas.microsoft.com/office/drawing/2014/main" id="{7EA82E30-466F-57AE-D800-AFD0CFD6BA88}"/>
              </a:ext>
            </a:extLst>
          </p:cNvPr>
          <p:cNvPicPr>
            <a:picLocks noChangeAspect="1"/>
          </p:cNvPicPr>
          <p:nvPr/>
        </p:nvPicPr>
        <p:blipFill>
          <a:blip r:embed="rId2"/>
          <a:srcRect t="16635" b="27126"/>
          <a:stretch>
            <a:fillRect/>
          </a:stretch>
        </p:blipFill>
        <p:spPr>
          <a:xfrm>
            <a:off x="20" y="1282"/>
            <a:ext cx="12191980" cy="6856718"/>
          </a:xfrm>
          <a:prstGeom prst="rect">
            <a:avLst/>
          </a:prstGeom>
        </p:spPr>
      </p:pic>
    </p:spTree>
    <p:extLst>
      <p:ext uri="{BB962C8B-B14F-4D97-AF65-F5344CB8AC3E}">
        <p14:creationId xmlns:p14="http://schemas.microsoft.com/office/powerpoint/2010/main" val="15963452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Ion</vt:lpstr>
      <vt:lpstr>Ai- agentic hiring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309</cp:revision>
  <dcterms:created xsi:type="dcterms:W3CDTF">2013-07-15T20:26:40Z</dcterms:created>
  <dcterms:modified xsi:type="dcterms:W3CDTF">2026-05-13T09:20:02Z</dcterms:modified>
</cp:coreProperties>
</file>